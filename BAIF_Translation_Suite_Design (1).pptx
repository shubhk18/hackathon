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65" r:id="rId3"/>
    <p:sldId id="262" r:id="rId4"/>
    <p:sldId id="263" r:id="rId5"/>
    <p:sldId id="268" r:id="rId6"/>
    <p:sldId id="267" r:id="rId7"/>
    <p:sldId id="269" r:id="rId8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FFCA28-4514-4EE9-2D18-EEBAD9010DF6}" v="568" dt="2026-07-03T10:38:45.8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179DFA2-98FB-488D-BBDB-B3917FAF1206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29075E-FA67-4741-AD5C-72C400944B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4160520" y="685800"/>
            <a:ext cx="822600" cy="822600"/>
          </a:xfrm>
          <a:prstGeom prst="ellipse">
            <a:avLst/>
          </a:prstGeom>
          <a:solidFill>
            <a:srgbClr val="D9A5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160520" y="6858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10261C"/>
                </a:solidFill>
                <a:effectLst/>
                <a:uFillTx/>
                <a:latin typeface="Calibri"/>
                <a:cs typeface="Calibri"/>
              </a:rPr>
              <a:t>अ</a:t>
            </a:r>
            <a:r>
              <a:rPr lang="en-US" sz="2000" b="1" u="none" strike="noStrike">
                <a:solidFill>
                  <a:srgbClr val="10261C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1689318"/>
            <a:ext cx="78634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</a:rPr>
              <a:t>BAIF Translator</a:t>
            </a:r>
            <a:endParaRPr lang="en-US" sz="3400" b="1" u="none" strike="noStrike" dirty="0">
              <a:solidFill>
                <a:srgbClr val="FFFFFF"/>
              </a:solidFill>
              <a:effectLst/>
              <a:uFillTx/>
              <a:latin typeface="Cambria"/>
              <a:ea typeface="Cambria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26974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7D8C6"/>
                </a:solidFill>
                <a:effectLst/>
                <a:uFillTx/>
                <a:latin typeface="Calibri"/>
                <a:ea typeface="Calibri"/>
              </a:rPr>
              <a:t>Tech for Good Hackathon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3200400" y="3337560"/>
            <a:ext cx="2743200" cy="360"/>
          </a:xfrm>
          <a:prstGeom prst="line">
            <a:avLst/>
          </a:prstGeom>
          <a:ln w="12700">
            <a:solidFill>
              <a:srgbClr val="74C6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097280" y="3520440"/>
            <a:ext cx="6949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74C69D"/>
                </a:solidFill>
                <a:effectLst/>
                <a:uFillTx/>
                <a:latin typeface="Calibri"/>
                <a:ea typeface="Calibri"/>
              </a:rPr>
              <a:t>Text · Audio · Video translation across Marathi, Hindi, and English — fully offline, zero-cost, on BAIF's own hardware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0080" y="4163556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2400" b="1" u="none" strike="noStrike">
                <a:solidFill>
                  <a:srgbClr val="B7D8C6"/>
                </a:solidFill>
                <a:effectLst/>
                <a:uFillTx/>
                <a:latin typeface="Calibri"/>
                <a:ea typeface="Calibri"/>
              </a:rPr>
              <a:t>Team</a:t>
            </a:r>
            <a:r>
              <a:rPr lang="en-US" sz="2400" b="1">
                <a:solidFill>
                  <a:srgbClr val="B7D8C6"/>
                </a:solidFill>
                <a:latin typeface="Calibri"/>
                <a:ea typeface="Calibri"/>
              </a:rPr>
              <a:t> </a:t>
            </a:r>
            <a:r>
              <a:rPr lang="en-US" sz="2400" b="1" u="none" strike="noStrike">
                <a:solidFill>
                  <a:srgbClr val="B7D8C6"/>
                </a:solidFill>
                <a:effectLst/>
                <a:uFillTx/>
                <a:latin typeface="Calibri"/>
                <a:ea typeface="Calibri"/>
              </a:rPr>
              <a:t>: GPE Warriors</a:t>
            </a:r>
            <a:endParaRPr lang="en-IN" sz="2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900" y="205740"/>
            <a:ext cx="84353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1E1E1E"/>
                </a:solidFill>
              </a:defRPr>
            </a:pPr>
            <a:r>
              <a:rPr sz="2100"/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505" y="944761"/>
            <a:ext cx="8331042" cy="949225"/>
          </a:xfrm>
          <a:prstGeom prst="roundRect">
            <a:avLst/>
          </a:prstGeom>
          <a:solidFill>
            <a:srgbClr val="E8F2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>
                <a:solidFill>
                  <a:srgbClr val="00468C"/>
                </a:solidFill>
              </a:defRPr>
            </a:pPr>
            <a:r>
              <a:rPr sz="1350"/>
              <a:t>Objective</a:t>
            </a:r>
            <a:endParaRPr lang="en-US"/>
          </a:p>
          <a:p>
            <a:pPr>
              <a:defRPr sz="1600"/>
            </a:pPr>
            <a:r>
              <a:rPr sz="1200"/>
              <a:t>Develop a scalable, offline-capable web application that translates text, audio, and video between Marathi, Hindi, and English, enabling BAIF field staff to communicate effectively without internet connectivity.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394" y="2214205"/>
            <a:ext cx="397764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/>
            </a:pPr>
            <a:r>
              <a:rPr sz="1500"/>
              <a:t>Scope</a:t>
            </a:r>
          </a:p>
          <a:p>
            <a:pPr lvl="1">
              <a:defRPr sz="1600"/>
            </a:pPr>
            <a:r>
              <a:rPr sz="1200"/>
              <a:t>• Accept Text, Audio, and Video inputs</a:t>
            </a:r>
          </a:p>
          <a:p>
            <a:pPr lvl="1">
              <a:defRPr sz="1600"/>
            </a:pPr>
            <a:r>
              <a:rPr sz="1200"/>
              <a:t>• Speech-to-Text for audio/video</a:t>
            </a:r>
          </a:p>
          <a:p>
            <a:pPr lvl="1">
              <a:defRPr sz="1600"/>
            </a:pPr>
            <a:r>
              <a:rPr sz="1200"/>
              <a:t>• Translate: Marathi ↔ Hindi ↔ English</a:t>
            </a:r>
          </a:p>
          <a:p>
            <a:pPr lvl="1">
              <a:defRPr sz="1600"/>
            </a:pPr>
            <a:r>
              <a:rPr sz="1200"/>
              <a:t>• Generate translated text</a:t>
            </a:r>
          </a:p>
          <a:p>
            <a:pPr lvl="1">
              <a:defRPr sz="1600"/>
            </a:pPr>
            <a:r>
              <a:rPr sz="1200"/>
              <a:t>• Generate translated speech (TTS)</a:t>
            </a:r>
          </a:p>
          <a:p>
            <a:pPr lvl="1">
              <a:defRPr sz="1600"/>
            </a:pPr>
            <a:r>
              <a:rPr sz="1200"/>
              <a:t>• Create subtitles (SRT/VTT/Burned-in)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536" y="2214206"/>
            <a:ext cx="411480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3429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/>
            </a:pPr>
            <a:r>
              <a:rPr sz="1500"/>
              <a:t>Requirements</a:t>
            </a:r>
          </a:p>
          <a:p>
            <a:pPr lvl="1">
              <a:defRPr sz="1600"/>
            </a:pPr>
            <a:r>
              <a:rPr sz="1200"/>
              <a:t>✓ Video: MP4, MOV, AVI, WMV, MKV, FLV, WebM</a:t>
            </a:r>
          </a:p>
          <a:p>
            <a:pPr lvl="1">
              <a:defRPr sz="1600"/>
            </a:pPr>
            <a:r>
              <a:rPr sz="1200"/>
              <a:t>✓ Audio: MP3, WAV, AAC, M4A, FLAC, WMA, OGG</a:t>
            </a:r>
          </a:p>
          <a:p>
            <a:pPr lvl="1">
              <a:defRPr sz="1600"/>
            </a:pPr>
            <a:r>
              <a:rPr sz="1200"/>
              <a:t>✓ Fully Offline Operation</a:t>
            </a:r>
          </a:p>
          <a:p>
            <a:pPr lvl="1">
              <a:defRPr sz="1600"/>
            </a:pPr>
            <a:r>
              <a:rPr sz="1200"/>
              <a:t>✓ Open-Source Technologies Only</a:t>
            </a:r>
          </a:p>
          <a:p>
            <a:pPr lvl="1">
              <a:defRPr sz="1600"/>
            </a:pPr>
            <a:r>
              <a:rPr sz="1200"/>
              <a:t>✓ Deployable On-Premises</a:t>
            </a:r>
          </a:p>
          <a:p>
            <a:pPr lvl="1">
              <a:defRPr sz="1600"/>
            </a:pPr>
            <a:r>
              <a:rPr sz="1200"/>
              <a:t>✓ No Cloud / HSBC Dependencies</a:t>
            </a:r>
          </a:p>
          <a:p>
            <a:pPr lvl="1">
              <a:defRPr sz="1600"/>
            </a:pPr>
            <a:r>
              <a:rPr sz="1200"/>
              <a:t>✓ No Licensing or Usage Costs</a:t>
            </a:r>
          </a:p>
        </p:txBody>
      </p:sp>
    </p:spTree>
    <p:extLst>
      <p:ext uri="{BB962C8B-B14F-4D97-AF65-F5344CB8AC3E}">
        <p14:creationId xmlns:p14="http://schemas.microsoft.com/office/powerpoint/2010/main" val="142322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5053288"/>
            <a:ext cx="9155399" cy="92522"/>
            <a:chOff x="-5025" y="6737718"/>
            <a:chExt cx="12207200" cy="12336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3F6527C-8E63-C39E-C0AF-6B51F5057731}"/>
              </a:ext>
            </a:extLst>
          </p:cNvPr>
          <p:cNvSpPr txBox="1"/>
          <p:nvPr/>
        </p:nvSpPr>
        <p:spPr>
          <a:xfrm>
            <a:off x="546652" y="173934"/>
            <a:ext cx="225286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1E1E1E"/>
                </a:solidFill>
              </a:rPr>
              <a:t>Solution</a:t>
            </a:r>
            <a:r>
              <a:rPr lang="en-US" sz="1500" b="1">
                <a:ea typeface="Calibri"/>
                <a:cs typeface="Calibri"/>
              </a:rPr>
              <a:t> </a:t>
            </a:r>
            <a:r>
              <a:rPr lang="en-US" sz="2100" b="1">
                <a:solidFill>
                  <a:srgbClr val="1E1E1E"/>
                </a:solidFill>
              </a:rPr>
              <a:t>Architecture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09CD14-7F63-894B-E450-B783AE247E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87360" y="544285"/>
            <a:ext cx="6169479" cy="412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458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B6757F-F14A-8AFD-7DAF-5A89C76DCF86}"/>
              </a:ext>
            </a:extLst>
          </p:cNvPr>
          <p:cNvSpPr txBox="1"/>
          <p:nvPr/>
        </p:nvSpPr>
        <p:spPr>
          <a:xfrm>
            <a:off x="546652" y="173934"/>
            <a:ext cx="2252869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1E1E1E"/>
                </a:solidFill>
              </a:rPr>
              <a:t>Flow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sz="2100" b="1">
                <a:solidFill>
                  <a:srgbClr val="1E1E1E"/>
                </a:solidFill>
              </a:rPr>
              <a:t>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C4249E-7A0C-1954-D178-AA68B2CF2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101" y="252748"/>
            <a:ext cx="3105978" cy="463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91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901208-27E7-EBFB-72E2-19B06B6F7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33" y="625658"/>
            <a:ext cx="5298976" cy="23741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892D03-FA5F-33C0-512A-4ABB2DBA8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35" y="3263136"/>
            <a:ext cx="3687964" cy="1639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B382F4-971E-4714-72BB-F043651F85B9}"/>
              </a:ext>
            </a:extLst>
          </p:cNvPr>
          <p:cNvSpPr txBox="1"/>
          <p:nvPr/>
        </p:nvSpPr>
        <p:spPr>
          <a:xfrm>
            <a:off x="546652" y="173934"/>
            <a:ext cx="2252869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1E1E1E"/>
                </a:solidFill>
              </a:rPr>
              <a:t>Tech Stack</a:t>
            </a:r>
            <a:endParaRPr lang="en-US" sz="2100" b="1">
              <a:solidFill>
                <a:srgbClr val="1E1E1E"/>
              </a:solidFill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88253D-151A-8DF7-7332-8C1511DEBC6D}"/>
              </a:ext>
            </a:extLst>
          </p:cNvPr>
          <p:cNvSpPr txBox="1"/>
          <p:nvPr/>
        </p:nvSpPr>
        <p:spPr>
          <a:xfrm>
            <a:off x="402094" y="3001797"/>
            <a:ext cx="2731512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ea typeface="Calibri"/>
                <a:cs typeface="Calibri"/>
              </a:rPr>
              <a:t>Transformer models for </a:t>
            </a:r>
            <a:r>
              <a:rPr lang="en-US" sz="1100">
                <a:ea typeface="Calibri"/>
                <a:cs typeface="Calibri"/>
              </a:rPr>
              <a:t>translation</a:t>
            </a:r>
            <a:endParaRPr lang="en-US" sz="11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5476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71585D-B04E-1B4A-B303-544E89C9CACE}"/>
              </a:ext>
            </a:extLst>
          </p:cNvPr>
          <p:cNvSpPr txBox="1"/>
          <p:nvPr/>
        </p:nvSpPr>
        <p:spPr>
          <a:xfrm>
            <a:off x="571500" y="447260"/>
            <a:ext cx="8224630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Addressing the Evaluation Pillars</a:t>
            </a:r>
            <a:endParaRPr lang="en-US" dirty="0">
              <a:ea typeface="Calibri"/>
              <a:cs typeface="Calibri"/>
            </a:endParaRPr>
          </a:p>
          <a:p>
            <a:endParaRPr lang="en-US" sz="1400" b="1" dirty="0">
              <a:ea typeface="Calibri"/>
              <a:cs typeface="Calibri"/>
            </a:endParaRPr>
          </a:p>
          <a:p>
            <a:endParaRPr lang="en-US" sz="1400" b="1" dirty="0"/>
          </a:p>
          <a:p>
            <a:r>
              <a:rPr lang="en-US" sz="1200" b="1"/>
              <a:t>1. Impact</a:t>
            </a:r>
            <a:endParaRPr lang="en-US" sz="1200" dirty="0">
              <a:ea typeface="Calibri"/>
              <a:cs typeface="Calibri"/>
            </a:endParaRPr>
          </a:p>
          <a:p>
            <a:r>
              <a:rPr lang="en-US" sz="1200">
                <a:ea typeface="+mn-lt"/>
                <a:cs typeface="+mn-lt"/>
              </a:rPr>
              <a:t>Removes the translation bottleneck for field teams working across Marathi, Hindi, and English.</a:t>
            </a:r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r>
              <a:rPr lang="en-US" sz="1200" b="1"/>
              <a:t>2. Scalability &amp; Production Readiness</a:t>
            </a:r>
            <a:endParaRPr lang="en-US" sz="1200" dirty="0">
              <a:ea typeface="Calibri"/>
              <a:cs typeface="Calibri"/>
            </a:endParaRPr>
          </a:p>
          <a:p>
            <a:r>
              <a:rPr lang="en-US" sz="1200" dirty="0" err="1">
                <a:ea typeface="+mn-lt"/>
                <a:cs typeface="+mn-lt"/>
              </a:rPr>
              <a:t>Dockerized</a:t>
            </a:r>
            <a:r>
              <a:rPr lang="en-US" sz="1200" dirty="0">
                <a:ea typeface="+mn-lt"/>
                <a:cs typeface="+mn-lt"/>
              </a:rPr>
              <a:t> microservices (frontend, backend, media, ASR, translation, TTS) — each layer scales independently.</a:t>
            </a:r>
            <a:endParaRPr lang="en-US" sz="1200" dirty="0">
              <a:ea typeface="Calibri"/>
              <a:cs typeface="Calibri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r>
              <a:rPr lang="en-US" sz="1200" b="1"/>
              <a:t>3. Usability &amp; User Experience</a:t>
            </a:r>
            <a:endParaRPr lang="en-US" sz="1200" dirty="0">
              <a:ea typeface="Calibri"/>
              <a:cs typeface="Calibri"/>
            </a:endParaRPr>
          </a:p>
          <a:p>
            <a:r>
              <a:rPr lang="en-US" sz="1200">
                <a:ea typeface="+mn-lt"/>
                <a:cs typeface="+mn-lt"/>
              </a:rPr>
              <a:t>Single web UI for text, audio, and video uploads with job status and downloadable outputs.</a:t>
            </a:r>
            <a:endParaRPr lang="en-US" sz="1200" dirty="0">
              <a:ea typeface="Calibri"/>
              <a:cs typeface="Calibri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r>
              <a:rPr lang="en-US" sz="1200" b="1"/>
              <a:t>4. Tech Safety, Fairness &amp; Inclusivity</a:t>
            </a:r>
            <a:endParaRPr lang="en-US" sz="1200" dirty="0">
              <a:ea typeface="Calibri"/>
              <a:cs typeface="Calibri"/>
            </a:endParaRPr>
          </a:p>
          <a:p>
            <a:r>
              <a:rPr lang="en-US" sz="1200">
                <a:ea typeface="+mn-lt"/>
                <a:cs typeface="+mn-lt"/>
              </a:rPr>
              <a:t>All processing stays on BAIF’s own hardware — no field data ever leaves the premises. No API call.</a:t>
            </a:r>
            <a:endParaRPr lang="en-US" sz="1200" dirty="0">
              <a:ea typeface="Calibri"/>
              <a:cs typeface="Calibri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r>
              <a:rPr lang="en-US" sz="1200" b="1"/>
              <a:t>5. Cost</a:t>
            </a:r>
            <a:endParaRPr lang="en-US" sz="1200" dirty="0">
              <a:ea typeface="Calibri"/>
              <a:cs typeface="Calibri"/>
            </a:endParaRPr>
          </a:p>
          <a:p>
            <a:r>
              <a:rPr lang="en-US" sz="1200" dirty="0">
                <a:ea typeface="+mn-lt"/>
                <a:cs typeface="+mn-lt"/>
              </a:rPr>
              <a:t>100% open-source components (Whisper, </a:t>
            </a:r>
            <a:r>
              <a:rPr lang="en-US" sz="1200" dirty="0" err="1">
                <a:ea typeface="+mn-lt"/>
                <a:cs typeface="+mn-lt"/>
              </a:rPr>
              <a:t>Apertium</a:t>
            </a:r>
            <a:r>
              <a:rPr lang="en-US" sz="1200" dirty="0">
                <a:ea typeface="+mn-lt"/>
                <a:cs typeface="+mn-lt"/>
              </a:rPr>
              <a:t>, Piper, </a:t>
            </a:r>
            <a:r>
              <a:rPr lang="en-US" sz="1200" dirty="0" err="1">
                <a:ea typeface="+mn-lt"/>
                <a:cs typeface="+mn-lt"/>
              </a:rPr>
              <a:t>FFmpeg</a:t>
            </a:r>
            <a:r>
              <a:rPr lang="en-US" sz="1200" dirty="0">
                <a:ea typeface="+mn-lt"/>
                <a:cs typeface="+mn-lt"/>
              </a:rPr>
              <a:t>) — zero licensing or usage cost.</a:t>
            </a:r>
            <a:endParaRPr lang="en-US" sz="1200" dirty="0">
              <a:ea typeface="Calibri"/>
              <a:cs typeface="Calibri"/>
            </a:endParaRPr>
          </a:p>
          <a:p>
            <a:endParaRPr lang="en-US" sz="1400" dirty="0">
              <a:ea typeface="Calibri"/>
              <a:cs typeface="Calibri"/>
            </a:endParaRPr>
          </a:p>
          <a:p>
            <a:endParaRPr lang="en-US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5457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4173FD-A266-C471-11B2-7332177DB7F0}"/>
              </a:ext>
            </a:extLst>
          </p:cNvPr>
          <p:cNvSpPr txBox="1"/>
          <p:nvPr/>
        </p:nvSpPr>
        <p:spPr>
          <a:xfrm>
            <a:off x="813314" y="270543"/>
            <a:ext cx="5432031" cy="667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Test Evidence</a:t>
            </a:r>
          </a:p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07B6A4-9E89-A91A-4F4B-9580092C6F5A}"/>
              </a:ext>
            </a:extLst>
          </p:cNvPr>
          <p:cNvSpPr txBox="1"/>
          <p:nvPr/>
        </p:nvSpPr>
        <p:spPr>
          <a:xfrm>
            <a:off x="1018761" y="749576"/>
            <a:ext cx="106845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b="1">
                <a:ea typeface="Calibri"/>
                <a:cs typeface="Calibri"/>
              </a:rPr>
              <a:t>Text</a:t>
            </a:r>
            <a:endParaRPr lang="en-US" sz="11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916041-BCED-399F-13A7-99E8268CC841}"/>
              </a:ext>
            </a:extLst>
          </p:cNvPr>
          <p:cNvSpPr txBox="1"/>
          <p:nvPr/>
        </p:nvSpPr>
        <p:spPr>
          <a:xfrm>
            <a:off x="4574070" y="749510"/>
            <a:ext cx="106845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b="1">
                <a:ea typeface="Calibri"/>
                <a:cs typeface="Calibri"/>
              </a:rPr>
              <a:t>Audio</a:t>
            </a:r>
            <a:endParaRPr lang="en-US" sz="110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EB97E93-28BB-89ED-7C88-ED653AF61CF7}"/>
              </a:ext>
            </a:extLst>
          </p:cNvPr>
          <p:cNvCxnSpPr/>
          <p:nvPr/>
        </p:nvCxnSpPr>
        <p:spPr>
          <a:xfrm>
            <a:off x="4406347" y="969065"/>
            <a:ext cx="16565" cy="357808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47BA15A-B7CB-7129-F6C4-4B234DC97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951" y="1068456"/>
            <a:ext cx="3080971" cy="17683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A003D61-D0A1-BF32-9666-C2FAB16D8C52}"/>
              </a:ext>
            </a:extLst>
          </p:cNvPr>
          <p:cNvSpPr txBox="1"/>
          <p:nvPr/>
        </p:nvSpPr>
        <p:spPr>
          <a:xfrm>
            <a:off x="575641" y="2074793"/>
            <a:ext cx="88623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>
                <a:ea typeface="Calibri"/>
                <a:cs typeface="Calibri"/>
              </a:rPr>
              <a:t>Input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D72D90-2077-1EB8-A330-B3672CD01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081" y="2985880"/>
            <a:ext cx="3071131" cy="180146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F587F4F-A14E-39DD-CB56-633166F8533E}"/>
              </a:ext>
            </a:extLst>
          </p:cNvPr>
          <p:cNvSpPr txBox="1"/>
          <p:nvPr/>
        </p:nvSpPr>
        <p:spPr>
          <a:xfrm>
            <a:off x="505238" y="3888684"/>
            <a:ext cx="88623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>
                <a:ea typeface="Calibri"/>
                <a:cs typeface="Calibri"/>
              </a:rPr>
              <a:t>Output</a:t>
            </a:r>
          </a:p>
        </p:txBody>
      </p:sp>
      <p:pic>
        <p:nvPicPr>
          <p:cNvPr id="21" name="translated">
            <a:hlinkClick r:id="" action="ppaction://media"/>
            <a:extLst>
              <a:ext uri="{FF2B5EF4-FFF2-40B4-BE49-F238E27FC236}">
                <a16:creationId xmlns:a16="http://schemas.microsoft.com/office/drawing/2014/main" id="{042611B2-3568-79FE-8BDC-1041EC0D58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62525" y="4637569"/>
            <a:ext cx="254003" cy="2747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D6CFCE4-02EB-D689-14EC-04F228A24D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999" y="1085587"/>
            <a:ext cx="3667257" cy="17325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AEDC43-6EF2-2CD0-BB2C-9D3F62AF99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1117" y="2826246"/>
            <a:ext cx="3110218" cy="224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3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0</Words>
  <Application>Microsoft Office PowerPoint</Application>
  <PresentationFormat>On-screen Show (16:9)</PresentationFormat>
  <Paragraphs>0</Paragraphs>
  <Slides>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 Multilingual Translation Suite — BAIF Design Submission</dc:title>
  <dc:subject>PptxGenJS Presentation</dc:subject>
  <dc:creator>Shubham Kushwaha</dc:creator>
  <dc:description/>
  <cp:lastModifiedBy/>
  <cp:revision>253</cp:revision>
  <dcterms:created xsi:type="dcterms:W3CDTF">2026-07-03T07:43:11Z</dcterms:created>
  <dcterms:modified xsi:type="dcterms:W3CDTF">2026-07-03T10:42:29Z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